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Calibri"/>
              </a:rPr>
              <a:t>Nombre moyen de questions posees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Adaptatif (gain d'information)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Avant
(1 question / concept)</c:v>
                  </c:pt>
                  <c:pt idx="1">
                    <c:v>Apres
(3 questions / concept)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7.06</c:v>
                </c:pt>
                <c:pt idx="1">
                  <c:v>11.53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Aleatoire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Avant
(1 question / concept)</c:v>
                  </c:pt>
                  <c:pt idx="1">
                    <c:v>Apres
(3 questions / concept)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7.71</c:v>
                </c:pt>
                <c:pt idx="1">
                  <c:v>18.18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Adaptatif (13 questions)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4.087</c:v>
                </c:pt>
                <c:pt idx="1">
                  <c:v>3.346</c:v>
                </c:pt>
                <c:pt idx="2">
                  <c:v>3.189</c:v>
                </c:pt>
                <c:pt idx="3">
                  <c:v>2.735</c:v>
                </c:pt>
                <c:pt idx="4">
                  <c:v>1.807</c:v>
                </c:pt>
                <c:pt idx="5">
                  <c:v>2.735</c:v>
                </c:pt>
                <c:pt idx="6">
                  <c:v>2.711</c:v>
                </c:pt>
                <c:pt idx="7">
                  <c:v>1.978</c:v>
                </c:pt>
                <c:pt idx="8">
                  <c:v>1.416</c:v>
                </c:pt>
                <c:pt idx="9">
                  <c:v>0.962</c:v>
                </c:pt>
                <c:pt idx="10">
                  <c:v>1.422</c:v>
                </c:pt>
                <c:pt idx="11">
                  <c:v>1.069</c:v>
                </c:pt>
                <c:pt idx="12">
                  <c:v>0.91</c:v>
                </c:pt>
                <c:pt idx="13">
                  <c:v>0.793</c:v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Aleatoire (22 questions)</c:v>
                </c:pt>
              </c:strCache>
            </c:strRef>
          </c:tx>
          <c:spPr>
            <a:solidFill>
              <a:srgbClr val="9AA5B1"/>
            </a:solidFill>
            <a:ln w="31750" cap="flat">
              <a:solidFill>
                <a:srgbClr val="9AA5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AA5B1"/>
              </a:solidFill>
              <a:ln w="9525" cap="flat">
                <a:solidFill>
                  <a:srgbClr val="9AA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4.087</c:v>
                </c:pt>
                <c:pt idx="1">
                  <c:v>3.888</c:v>
                </c:pt>
                <c:pt idx="2">
                  <c:v>3.649</c:v>
                </c:pt>
                <c:pt idx="3">
                  <c:v>3.62</c:v>
                </c:pt>
                <c:pt idx="4">
                  <c:v>3.609</c:v>
                </c:pt>
                <c:pt idx="5">
                  <c:v>3.299</c:v>
                </c:pt>
                <c:pt idx="6">
                  <c:v>3.127</c:v>
                </c:pt>
                <c:pt idx="7">
                  <c:v>2.894</c:v>
                </c:pt>
                <c:pt idx="8">
                  <c:v>2.358</c:v>
                </c:pt>
                <c:pt idx="9">
                  <c:v>2.33</c:v>
                </c:pt>
                <c:pt idx="10">
                  <c:v>2.758</c:v>
                </c:pt>
                <c:pt idx="11">
                  <c:v>2.321</c:v>
                </c:pt>
                <c:pt idx="12">
                  <c:v>2.307</c:v>
                </c:pt>
                <c:pt idx="13">
                  <c:v>2.307</c:v>
                </c:pt>
                <c:pt idx="14">
                  <c:v>2.291</c:v>
                </c:pt>
                <c:pt idx="15">
                  <c:v>2.29</c:v>
                </c:pt>
                <c:pt idx="16">
                  <c:v>2.287</c:v>
                </c:pt>
                <c:pt idx="17">
                  <c:v>2.051</c:v>
                </c:pt>
                <c:pt idx="18">
                  <c:v>1.729</c:v>
                </c:pt>
                <c:pt idx="19">
                  <c:v>1.331</c:v>
                </c:pt>
                <c:pt idx="20">
                  <c:v>1.163</c:v>
                </c:pt>
                <c:pt idx="21">
                  <c:v>1.062</c:v>
                </c:pt>
                <c:pt idx="22">
                  <c:v>0.662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question posee (t)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entropie H(p_t)  [bits]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 · UM6P VANGUARD CENTER / CMSIS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de quiz adaptatif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Sprint 0 — moteur fonde sur la Knowledge Space Theory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0" cy="137160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Ratnani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Ibnjaa, S. Kharou, A. Zahir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croyance qu'on affine, pas un score qu'on calcule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systeme ne sait pas ce que l'etudiant sait.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maintient une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croyance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p, une distribution de probabilite sur les etats de connaissance possibles — pas un score unique.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chaque etape : poser la question qui reduit le plus l'incertitude, mettre a jour par Bayes, recommencer.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754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∈ Δ(Z)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simplexe des distributions sur l'espace de connaissance Z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0372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3720" y="18562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L'espace de connaissance Z, construit sur le graphe de prerequis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651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03720" y="29077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modele de reponse BLIM et la mise a jour bayesienne de 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703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39593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simplexe n'est pas euclidien — metrique de Fisher, entropie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754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50109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de la question par gain d'information (POMDP glouton)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defaut de design initial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faisait : 1 concept = 1 question.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59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77824" y="3273552"/>
            <a:ext cx="640080" cy="320040"/>
          </a:xfrm>
          <a:prstGeom prst="roundRect">
            <a:avLst>
              <a:gd name="adj" fmla="val 142857"/>
            </a:avLst>
          </a:prstGeom>
          <a:solidFill>
            <a:srgbClr val="9AA5B1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3273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56816" y="22860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2359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3273552"/>
            <a:ext cx="640080" cy="320040"/>
          </a:xfrm>
          <a:prstGeom prst="roundRect">
            <a:avLst>
              <a:gd name="adj" fmla="val 142857"/>
            </a:avLst>
          </a:prstGeom>
          <a:solidFill>
            <a:srgbClr val="9AA5B1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3273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64992" y="22860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359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94176" y="3273552"/>
            <a:ext cx="640080" cy="320040"/>
          </a:xfrm>
          <a:prstGeom prst="roundRect">
            <a:avLst>
              <a:gd name="adj" fmla="val 142857"/>
            </a:avLst>
          </a:prstGeom>
          <a:solidFill>
            <a:srgbClr val="9AA5B1"/>
          </a:solidFill>
          <a:ln/>
        </p:spPr>
      </p:sp>
      <p:sp>
        <p:nvSpPr>
          <p:cNvPr id="16" name="Text 14"/>
          <p:cNvSpPr/>
          <p:nvPr/>
        </p:nvSpPr>
        <p:spPr>
          <a:xfrm>
            <a:off x="3694176" y="3273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73168" y="22860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359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02352" y="3273552"/>
            <a:ext cx="640080" cy="320040"/>
          </a:xfrm>
          <a:prstGeom prst="roundRect">
            <a:avLst>
              <a:gd name="adj" fmla="val 142857"/>
            </a:avLst>
          </a:prstGeom>
          <a:solidFill>
            <a:srgbClr val="9AA5B1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3273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1344" y="22860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2359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10528" y="3273552"/>
            <a:ext cx="640080" cy="320040"/>
          </a:xfrm>
          <a:prstGeom prst="roundRect">
            <a:avLst>
              <a:gd name="adj" fmla="val 142857"/>
            </a:avLst>
          </a:prstGeom>
          <a:solidFill>
            <a:srgbClr val="9AA5B1"/>
          </a:solidFill>
          <a:ln/>
        </p:spPr>
      </p:sp>
      <p:sp>
        <p:nvSpPr>
          <p:cNvPr id="24" name="Text 22"/>
          <p:cNvSpPr/>
          <p:nvPr/>
        </p:nvSpPr>
        <p:spPr>
          <a:xfrm>
            <a:off x="6510528" y="3273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22860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2359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18704" y="3273552"/>
            <a:ext cx="640080" cy="320040"/>
          </a:xfrm>
          <a:prstGeom prst="roundRect">
            <a:avLst>
              <a:gd name="adj" fmla="val 142857"/>
            </a:avLst>
          </a:prstGeom>
          <a:solidFill>
            <a:srgbClr val="9AA5B1"/>
          </a:solidFill>
          <a:ln/>
        </p:spPr>
      </p:sp>
      <p:sp>
        <p:nvSpPr>
          <p:cNvPr id="28" name="Text 26"/>
          <p:cNvSpPr/>
          <p:nvPr/>
        </p:nvSpPr>
        <p:spPr>
          <a:xfrm>
            <a:off x="7918704" y="3273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97696" y="22860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97696" y="2359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proba_base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26880" y="3273552"/>
            <a:ext cx="640080" cy="320040"/>
          </a:xfrm>
          <a:prstGeom prst="roundRect">
            <a:avLst>
              <a:gd name="adj" fmla="val 142857"/>
            </a:avLst>
          </a:prstGeom>
          <a:solidFill>
            <a:srgbClr val="9AA5B1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0" y="3273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405872" y="22860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05872" y="2359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var_aleat.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735056" y="3273552"/>
            <a:ext cx="640080" cy="320040"/>
          </a:xfrm>
          <a:prstGeom prst="roundRect">
            <a:avLst>
              <a:gd name="adj" fmla="val 142857"/>
            </a:avLst>
          </a:prstGeom>
          <a:solidFill>
            <a:srgbClr val="9AA5B1"/>
          </a:solidFill>
          <a:ln/>
        </p:spPr>
      </p:sp>
      <p:sp>
        <p:nvSpPr>
          <p:cNvPr id="36" name="Text 34"/>
          <p:cNvSpPr/>
          <p:nvPr/>
        </p:nvSpPr>
        <p:spPr>
          <a:xfrm>
            <a:off x="10735056" y="3273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9776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25196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8 questions disponibles pour 8 concepts, un quiz pose "intelligemment" et un quiz pose dans le desordre finissent au meme endroit :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toutes posees, il n'y a plus rien a optimiser.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29600" y="4160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4600" dirty="0"/>
          </a:p>
        </p:txBody>
      </p:sp>
      <p:sp>
        <p:nvSpPr>
          <p:cNvPr id="40" name="Text 38"/>
          <p:cNvSpPr/>
          <p:nvPr/>
        </p:nvSpPr>
        <p:spPr>
          <a:xfrm>
            <a:off x="8229600" y="5074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d'ecart adaptatif / aleatoire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— le defaut a corriger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Separer le concept de la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noeud du graphe de prerequis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se construit dessus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417320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F3F6FD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1490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801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/ guess propres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flipV="1">
            <a:off x="3840480" y="1783080"/>
            <a:ext cx="1920240" cy="86868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2331720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F3F6FD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2715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/ guess propres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2651760"/>
            <a:ext cx="1920240" cy="4572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3246120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F3F6FD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630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/ guess propres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0" y="2651760"/>
            <a:ext cx="1920240" cy="96012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3F6F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questions par concept, chacune avec son propre (slip, guess)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selection gloutonne a enfin un vrai choix a faire, meme apres avoir interroge chaque concept une fois.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L'ecart devient significatif apres le refactor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0020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3F6FD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733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92440" y="2240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questions en moins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(adaptatif vs aleatoire, apres refactor)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63840" y="30632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3F6FD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3136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 → 76%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92440" y="3703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diagnostic exact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(avant → apres)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63840" y="452628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3F6FD"/>
          </a:solidFill>
          <a:ln/>
        </p:spPr>
      </p:sp>
      <p:sp>
        <p:nvSpPr>
          <p:cNvPr id="12" name="Text 9"/>
          <p:cNvSpPr/>
          <p:nvPr/>
        </p:nvSpPr>
        <p:spPr>
          <a:xfrm>
            <a:off x="8092440" y="4599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 → 37%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09244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adaptatif / aleatoire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(avant → apres le refactor)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selection maximise la reduction d'incertitude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IG(a;p) = H(p) − E</a:t>
            </a:r>
            <a:pPr indent="0" marL="0">
              <a:buNone/>
            </a:pPr>
            <a:r>
              <a:rPr lang="en-US" sz="1450" i="1" baseline="-40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[H(p</a:t>
            </a:r>
            <a:pPr indent="0" marL="0">
              <a:buNone/>
            </a:pPr>
            <a:r>
              <a:rPr lang="en-US" sz="1450" i="1" baseline="-40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450" i="1" baseline="30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)]</a:t>
            </a:r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chaque question, on choisit celle qui fait chuter le plus l'entropie H(p) en esperance.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11064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suite de tests, pas des print() dans __main__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1600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06324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xfail documente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600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57784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couvertes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3F6F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11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corrigee : biais de smoothing dans le calcul Monte-Carlo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information_gain_mc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lissait uniquement le denominateur du KL (log(P / (Q+ε))) — un biais qui peut rendre l'estimateur negatif. Les deux distributions sont desormais lissees avant le calcul, puis renormalisees.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non-regression ajoute 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p ayant un zero exact au bord du simplexe (le pire cas pour ce biais), le gain d'information Monte-Carlo estime doit rester ≥ 0.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 en cours, trois sprints devant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pur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concept/question, tests, benchmark. En cours — domaine reel a venir.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50692" y="360273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3364992" y="173736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3F6FD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93592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FastAPI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93592" y="3017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/sessions, /answers, GET /diagnosis. Etat de session = vecteur 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67044" y="360273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1344" y="173736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3F6F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9944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Next.js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9944" y="3017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Marginales par concept, barre de progression = 1 − H(p_t)/H(p0).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83396" y="360273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8997696" y="173736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3F6FD"/>
          </a:solidFill>
          <a:ln/>
        </p:spPr>
      </p:sp>
      <p:sp>
        <p:nvSpPr>
          <p:cNvPr id="20" name="Text 18"/>
          <p:cNvSpPr/>
          <p:nvPr/>
        </p:nvSpPr>
        <p:spPr>
          <a:xfrm>
            <a:off x="9226296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26296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26296" y="3017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sur slip/guess a partir des logs, comparaison vs baseline IRT.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 retours bienvenus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quiz adaptatif — PFA UM6P Vanguard Center / CMSIS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2026-08-24T15:54:27Z</dcterms:created>
  <dcterms:modified xsi:type="dcterms:W3CDTF">2026-08-24T15:54:27Z</dcterms:modified>
</cp:coreProperties>
</file>